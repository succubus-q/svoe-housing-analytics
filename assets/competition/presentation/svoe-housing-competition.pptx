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E3D56-B819-4B52-8B93-BEE4083C3723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89EAD-D207-4D1E-86A7-3CDE954195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18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Система автоматического сбора аналитических данных предназначена для будущего раздела аналитики портала «Своё Жильё». Ипотечный MVP охватывает шесть исходных метрик Банка России и четыре территориальных разреза. Полный цикл включает получение официальной статистики, нормализацию, хранение, расчёты и отображение.
Источники: docs/competition/project-summary.md; src/modules/cbr/cbr.catalog.ts.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60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Официальный API предоставляет статистику в нескольких публикациях. В ответах различаются обозначения периода, валютные колонки и единицы измерения. Сервис объединяет правила преобразования, хранит историю загрузок и предоставляет порталу единый аналитический контракт.
Источники: docs/cbr-api-research.md; src/modules/cbr/cbr.mapper.ts.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917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Scheduler </a:t>
            </a:r>
            <a:r>
              <a:rPr lang="ru-RU"/>
              <a:t>проверяет источник ежедневно. Возможны также стартовая загрузка и ручной запуск. Адаптер проверяет каталоги, </a:t>
            </a:r>
            <a:r>
              <a:rPr lang="en-US"/>
              <a:t>mapper </a:t>
            </a:r>
            <a:r>
              <a:rPr lang="ru-RU"/>
              <a:t>выбирает </a:t>
            </a:r>
            <a:r>
              <a:rPr lang="en-US"/>
              <a:t>RUB, </a:t>
            </a:r>
            <a:r>
              <a:rPr lang="ru-RU"/>
              <a:t>согласует период и переводит суммы в рубли. </a:t>
            </a:r>
            <a:r>
              <a:rPr lang="en-US"/>
              <a:t>PostgreSQL </a:t>
            </a:r>
            <a:r>
              <a:rPr lang="ru-RU"/>
              <a:t>хранит наблюдения с метаданными источника. Внутренний </a:t>
            </a:r>
            <a:r>
              <a:rPr lang="en-US"/>
              <a:t>API </a:t>
            </a:r>
            <a:r>
              <a:rPr lang="ru-RU"/>
              <a:t>отдаёт ряды и сводку </a:t>
            </a:r>
            <a:r>
              <a:rPr lang="en-US"/>
              <a:t>dashboard.
</a:t>
            </a:r>
            <a:r>
              <a:rPr lang="ru-RU"/>
              <a:t>Источники: </a:t>
            </a:r>
            <a:r>
              <a:rPr lang="en-US"/>
              <a:t>src/modules/cbr/cbr.service.ts; src/modules/cbr/cbr.mapper.ts; src/modules/mortgage/mortgage.service.ts; src/modules/sync/sync.scheduler.ts.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839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Backend </a:t>
            </a:r>
            <a:r>
              <a:rPr lang="ru-RU"/>
              <a:t>работает как модульный монолит на </a:t>
            </a:r>
            <a:r>
              <a:rPr lang="en-US"/>
              <a:t>Fastify </a:t>
            </a:r>
            <a:r>
              <a:rPr lang="ru-RU"/>
              <a:t>и </a:t>
            </a:r>
            <a:r>
              <a:rPr lang="en-US"/>
              <a:t>TypeScript. </a:t>
            </a:r>
            <a:r>
              <a:rPr lang="ru-RU"/>
              <a:t>Модули интеграции, импорта и аналитики разделены по ответственности. </a:t>
            </a:r>
            <a:r>
              <a:rPr lang="en-US"/>
              <a:t>Prisma </a:t>
            </a:r>
            <a:r>
              <a:rPr lang="ru-RU"/>
              <a:t>обращается к </a:t>
            </a:r>
            <a:r>
              <a:rPr lang="en-US"/>
              <a:t>PostgreSQL, nginx </a:t>
            </a:r>
            <a:r>
              <a:rPr lang="ru-RU"/>
              <a:t>раздаёт </a:t>
            </a:r>
            <a:r>
              <a:rPr lang="en-US"/>
              <a:t>React </a:t>
            </a:r>
            <a:r>
              <a:rPr lang="ru-RU"/>
              <a:t>и проксирует </a:t>
            </a:r>
            <a:r>
              <a:rPr lang="en-US"/>
              <a:t>API. Compose </a:t>
            </a:r>
            <a:r>
              <a:rPr lang="ru-RU"/>
              <a:t>запускает три сервиса, </a:t>
            </a:r>
            <a:r>
              <a:rPr lang="en-US"/>
              <a:t>Swagger </a:t>
            </a:r>
            <a:r>
              <a:rPr lang="ru-RU"/>
              <a:t>описывает контракт.
Источники: </a:t>
            </a:r>
            <a:r>
              <a:rPr lang="en-US"/>
              <a:t>src/app.ts; compose.yaml; deploy/nginx.conf; prisma/schema.prisma.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932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Рабочий импорт получает количество, объём, срок, задолженность и просрочку из публикации 21, ставку — из 15/34. Выдачи за январь имеют техническую дату первого февраля. Остаток на первое февраля относится к концу января. Mapper проверяет подпись и дату, сохраняет исходную дату, выбирает рублёвую колонку 36 и переводит суммы из миллионов рублей в рубли.
Источники: docs/competition/api-integration.md; data/samples/mortgage-count.json; data/samples/mortgage-debt.json; src/modules/cbr/cbr.mapper.ts.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851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Работающий </a:t>
            </a:r>
            <a:r>
              <a:rPr lang="en-US"/>
              <a:t>dashboard </a:t>
            </a:r>
            <a:r>
              <a:rPr lang="ru-RU"/>
              <a:t>локального </a:t>
            </a:r>
            <a:r>
              <a:rPr lang="en-US"/>
              <a:t>Compose-</a:t>
            </a:r>
            <a:r>
              <a:rPr lang="ru-RU"/>
              <a:t>стенда. На скриншоте выбраны Российская Федерация и август 2026. Видны фильтры, карточки, графики и начало месячной таблицы с кнопкой </a:t>
            </a:r>
            <a:r>
              <a:rPr lang="en-US"/>
              <a:t>CSV. </a:t>
            </a:r>
            <a:r>
              <a:rPr lang="ru-RU"/>
              <a:t>Карточки показывают </a:t>
            </a:r>
            <a:r>
              <a:rPr lang="en-US"/>
              <a:t>MoM, </a:t>
            </a:r>
            <a:r>
              <a:rPr lang="ru-RU"/>
              <a:t>а блок динамики объёма выдач также показывает </a:t>
            </a:r>
            <a:r>
              <a:rPr lang="en-US"/>
              <a:t>YoY. </a:t>
            </a:r>
            <a:r>
              <a:rPr lang="ru-RU"/>
              <a:t>В </a:t>
            </a:r>
            <a:r>
              <a:rPr lang="en-US"/>
              <a:t>API </a:t>
            </a:r>
            <a:r>
              <a:rPr lang="ru-RU"/>
              <a:t>годовые сравнения доступны для всех метрик. Скриншот получен 25.10.2026 без изменения данных интерфейса.
Источники: </a:t>
            </a:r>
            <a:r>
              <a:rPr lang="en-US"/>
              <a:t>assets/competition/screenshots/01-dashboard-rf.png; frontend/src/App.tsx; src/modules/mortgage/mortgage.service.ts.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093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Repository </a:t>
            </a:r>
            <a:r>
              <a:rPr lang="ru-RU"/>
              <a:t>сравнивает значения и метаданные по региону, месяцу и метрике. Неизменившаяся запись увеличивает </a:t>
            </a:r>
            <a:r>
              <a:rPr lang="en-US"/>
              <a:t>skipped, </a:t>
            </a:r>
            <a:r>
              <a:rPr lang="ru-RU"/>
              <a:t>новая вставляется, исправленная обновляется. </a:t>
            </a:r>
            <a:r>
              <a:rPr lang="en-US"/>
              <a:t>PostgreSQL </a:t>
            </a:r>
            <a:r>
              <a:rPr lang="ru-RU"/>
              <a:t>разрешает только один </a:t>
            </a:r>
            <a:r>
              <a:rPr lang="en-US"/>
              <a:t>RUNNING. Heartbeat </a:t>
            </a:r>
            <a:r>
              <a:rPr lang="ru-RU"/>
              <a:t>продлевает </a:t>
            </a:r>
            <a:r>
              <a:rPr lang="en-US"/>
              <a:t>lease, </a:t>
            </a:r>
            <a:r>
              <a:rPr lang="ru-RU"/>
              <a:t>перед атомарной записью повторно проверяется владелец. После аварии восстановление происходит при следующем запуске после истечения </a:t>
            </a:r>
            <a:r>
              <a:rPr lang="en-US"/>
              <a:t>lease.
</a:t>
            </a:r>
            <a:r>
              <a:rPr lang="ru-RU"/>
              <a:t>Источники: </a:t>
            </a:r>
            <a:r>
              <a:rPr lang="en-US"/>
              <a:t>src/modules/sync/sync.service.ts; src/modules/mortgage/mortgage.repository.ts; tests/integration/sync.test.ts.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470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ревью от 21.10.2026 прошли 14 unit-тестов и 9 интеграционных тестов на PostgreSQL, включая два OS-процесса, аварийное завершение и восстановление. Первый импорт в отдельном чистом Compose-стенде: received 1280, inserted 480, updated 0, skipped 800. Повторный: received 1280, inserted 0, updated 0, skipped 1280. После каждого импорта в БД 480 наблюдений. Проверка ключей не обнаружила дублей. Raw содержит валютные колонки, поэтому received отличается от количества сохранённых наблюдений.
Источники: docs/final-review.md; docs/competition/testing.md.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964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Ипотечный MVP предоставляет воспроизводимый цикл обработки официальной статистики и единый API для будущего раздела портала. Перед публичной эксплуатацией необходимы авторизация ручного sync, мониторинг и браузерные проверки. Расширение регионов, истории и остальных банковских показателей требует проверки источников и методологии.
Источники: docs/competition/project-summary.md; docs/competition/limitations.md.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EAD-D207-4D1E-86A7-3CDE954195D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210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1A420-94B7-6850-9B39-77BD92F42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070B6C-89E2-F927-689E-D3495F22C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9B1EA-EC72-5399-7487-B116C270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BD72D8-6BEA-6AD4-37F2-F1B53A0A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B9B7D1-EFB7-3199-B3A9-97C5C960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280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0EBD4-E4B6-253E-243D-45D388A4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CBB81C-7C46-5AF6-11DC-371512760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DD47F7-993A-03EB-2DCE-547504F3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3BECD8-FA08-D39A-6B8F-BB0F1AA4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D3F431-FE84-EC8D-39A9-3DE75DC9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771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6AC80-343D-90EC-445D-4BFAB4AC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0164F6-DA0C-D1DB-92E9-419F40426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985A8F-BE94-48C2-4418-1B3FCA6EF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0CAD7C-FD78-6CF2-31FE-C6AD5EC6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5EF027-2302-2E99-0DFC-DE37EBD7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63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53D3B-365C-EE18-F7C6-CD038C00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2EB1C7-0D5D-7799-F9E2-2A4A41918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177CEE-8965-66C6-54F6-2780C2CA3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3EF125-4FEA-706B-3B8C-900AE81D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F5069-38EB-CFA3-6F56-0D0DE919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58080F-4F57-D8A2-C634-14114F0F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1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934D1-6310-94EF-9E15-CC59FCDF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AB7BE3-6A5E-DE33-72BA-0F7E8CF35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EE3DEC-E238-A599-1BC1-75CC79F14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2D8CD9-89FF-127F-167B-3CAAD5B0B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82765C-BCA6-D3CE-0FDE-5C7097486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549C2D7-D6B5-5759-B3CD-FB485A22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E7BB48-8528-E1EB-4E82-F884CA07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54EEF3-AD83-9409-73FB-37E85A14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11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A979A-F71A-8F10-850A-5B2687F1A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8654D9-0BF1-C9BC-C7F9-7D59E809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310F18-F98D-8130-3DF2-04BBBD8D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7FA516-6F8D-3C55-7E81-536533A7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1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43AE2C9-34A2-BE31-FF45-454D9734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80AA2C-1325-23DD-B7D7-177EC6C6B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E2812A-6F93-67CB-6A23-5228C2E0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97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BD6BB-FA4D-DAAB-0FF7-6349B7FC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3DCC2-8F28-2D33-B726-7BD0EAD93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3539A3-F9E8-FDE0-A26B-BF485E9D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B61BFF-5839-5A2F-11DF-D64CEA67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BD1662-AB44-7983-DEA7-F1848645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FF22F8-E967-F003-EB38-46AB6CC8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30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8DD4B-E221-263F-5DC1-69B05CC7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400A73-E562-83D2-F670-5ACE45693AB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2B3C3D-3828-11A9-B5B9-9B0F001A9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D99EB2-1A32-B5F3-1BF7-096FECA8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3FE626-4AA6-F4DF-7E05-9D923E34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A8372F-0E02-E40E-E326-96BBF812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03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C8B99-E3D5-8573-5CF9-9AEF36FE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7EAE1A-34F4-7B6B-85DB-81261BE48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B5B9F0-09A5-C321-239A-69A23731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884BFD-CC03-8FBA-758B-CE01F168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F72AE0-DDE2-1651-6F27-EF4A59FA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92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4CFD03-B270-CE63-50BF-F25B235D3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08631B-B0DA-8243-1ACA-E352583FD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11D068-2B0F-9EF7-CEEB-9C6C8C76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C10A46-83B1-348B-D419-C05090C5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0E8C76-C6BE-B293-5662-2DC60E41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92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7E1B0-7AC2-1096-D052-BA5890DC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E79A96-BE11-2E13-EE04-439CA3A30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70D821-61F6-29BB-4DEB-87E138CA0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C6172-B0CA-4927-B55D-7C4ECC4E9F1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7BFC00-8A53-E99C-770A-9EE339B6D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6941AE-6B22-B850-5E90-4F0A64C2D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68BC1-01F6-4084-8E3F-16354DA50F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5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83F8CE-1CA2-5071-5D6A-9DA6AFEEF7A4}"/>
              </a:ext>
            </a:extLst>
          </p:cNvPr>
          <p:cNvSpPr txBox="1"/>
          <p:nvPr/>
        </p:nvSpPr>
        <p:spPr>
          <a:xfrm>
            <a:off x="609600" y="609599"/>
            <a:ext cx="1054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BCD6C9"/>
                </a:solidFill>
                <a:latin typeface="Arial" panose="020B0604020202020204" pitchFamily="34" charset="0"/>
              </a:rPr>
              <a:t>КЕЙС РОССЕЛЬХОЗБАНКА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3E2C1-60C7-6384-D892-5B1CB9C7EEAB}"/>
              </a:ext>
            </a:extLst>
          </p:cNvPr>
          <p:cNvSpPr txBox="1"/>
          <p:nvPr/>
        </p:nvSpPr>
        <p:spPr>
          <a:xfrm>
            <a:off x="609600" y="1803399"/>
            <a:ext cx="109220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600" b="1">
                <a:solidFill>
                  <a:srgbClr val="FFFFFF"/>
                </a:solidFill>
                <a:latin typeface="Arial" panose="020B0604020202020204" pitchFamily="34" charset="0"/>
              </a:rPr>
              <a:t>Ипотечная аналитика</a:t>
            </a:r>
            <a:br>
              <a:rPr lang="ru-RU" sz="4600" b="1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ru-RU" sz="4600" b="1">
                <a:solidFill>
                  <a:srgbClr val="FFFFFF"/>
                </a:solidFill>
                <a:latin typeface="Arial" panose="020B0604020202020204" pitchFamily="34" charset="0"/>
              </a:rPr>
              <a:t>для «Своего Жилья»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D567C-B186-EF4D-7E0F-600BA46BA010}"/>
              </a:ext>
            </a:extLst>
          </p:cNvPr>
          <p:cNvSpPr txBox="1"/>
          <p:nvPr/>
        </p:nvSpPr>
        <p:spPr>
          <a:xfrm>
            <a:off x="609600" y="4178299"/>
            <a:ext cx="10414000" cy="93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400">
                <a:solidFill>
                  <a:srgbClr val="D4E4DC"/>
                </a:solidFill>
                <a:latin typeface="Arial" panose="020B0604020202020204" pitchFamily="34" charset="0"/>
              </a:rPr>
              <a:t>Автоматический сбор и подготовка</a:t>
            </a:r>
            <a:br>
              <a:rPr lang="ru-RU" sz="2400">
                <a:solidFill>
                  <a:srgbClr val="D4E4DC"/>
                </a:solidFill>
                <a:latin typeface="Arial" panose="020B0604020202020204" pitchFamily="34" charset="0"/>
              </a:rPr>
            </a:br>
            <a:r>
              <a:rPr lang="ru-RU" sz="2400">
                <a:solidFill>
                  <a:srgbClr val="D4E4DC"/>
                </a:solidFill>
                <a:latin typeface="Arial" panose="020B0604020202020204" pitchFamily="34" charset="0"/>
              </a:rPr>
              <a:t>данных Банка России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1F2C6-CB68-3B34-8A6A-303C4B0B9EAA}"/>
              </a:ext>
            </a:extLst>
          </p:cNvPr>
          <p:cNvSpPr txBox="1"/>
          <p:nvPr/>
        </p:nvSpPr>
        <p:spPr>
          <a:xfrm>
            <a:off x="609600" y="5905499"/>
            <a:ext cx="1054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BCD6C9"/>
                </a:solidFill>
                <a:latin typeface="Arial" panose="020B0604020202020204" pitchFamily="34" charset="0"/>
              </a:rPr>
              <a:t>Конкурсный </a:t>
            </a:r>
            <a:r>
              <a:rPr lang="en-US" sz="1400">
                <a:solidFill>
                  <a:srgbClr val="BCD6C9"/>
                </a:solidFill>
                <a:latin typeface="Arial" panose="020B0604020202020204" pitchFamily="34" charset="0"/>
              </a:rPr>
              <a:t>MVP · </a:t>
            </a:r>
            <a:r>
              <a:rPr lang="ru-RU" sz="1400">
                <a:solidFill>
                  <a:srgbClr val="BCD6C9"/>
                </a:solidFill>
                <a:latin typeface="Arial" panose="020B0604020202020204" pitchFamily="34" charset="0"/>
              </a:rPr>
              <a:t>октябрь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151865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6E10C-2F63-18EF-FA5B-C19EF72FABB4}"/>
              </a:ext>
            </a:extLst>
          </p:cNvPr>
          <p:cNvSpPr txBox="1"/>
          <p:nvPr/>
        </p:nvSpPr>
        <p:spPr>
          <a:xfrm>
            <a:off x="609600" y="482599"/>
            <a:ext cx="10972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b="1">
                <a:solidFill>
                  <a:srgbClr val="123F36"/>
                </a:solidFill>
                <a:latin typeface="Arial" panose="020B0604020202020204" pitchFamily="34" charset="0"/>
              </a:rPr>
              <a:t>Данные ЦБ и задачи портала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0271C-EA7C-2B82-1191-CEE035275B6B}"/>
              </a:ext>
            </a:extLst>
          </p:cNvPr>
          <p:cNvSpPr txBox="1"/>
          <p:nvPr/>
        </p:nvSpPr>
        <p:spPr>
          <a:xfrm>
            <a:off x="11366500" y="6489700"/>
            <a:ext cx="304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100">
                <a:solidFill>
                  <a:srgbClr val="5B6D6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B7952-4FEE-E403-621A-21DE0AB3EBAC}"/>
              </a:ext>
            </a:extLst>
          </p:cNvPr>
          <p:cNvSpPr txBox="1"/>
          <p:nvPr/>
        </p:nvSpPr>
        <p:spPr>
          <a:xfrm>
            <a:off x="609600" y="1549399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5B6D66"/>
                </a:solidFill>
                <a:latin typeface="Arial" panose="020B0604020202020204" pitchFamily="34" charset="0"/>
              </a:rPr>
              <a:t>Порталу нужны сопоставимые показатели</a:t>
            </a:r>
            <a:br>
              <a:rPr lang="ru-RU" sz="2200">
                <a:solidFill>
                  <a:srgbClr val="5B6D66"/>
                </a:solidFill>
                <a:latin typeface="Arial" panose="020B0604020202020204" pitchFamily="34" charset="0"/>
              </a:rPr>
            </a:br>
            <a:r>
              <a:rPr lang="ru-RU" sz="2200">
                <a:solidFill>
                  <a:srgbClr val="5B6D66"/>
                </a:solidFill>
                <a:latin typeface="Arial" panose="020B0604020202020204" pitchFamily="34" charset="0"/>
              </a:rPr>
              <a:t>и регулярное обновление с контролем результата.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6F962CD-027B-B9F5-D999-573E6932B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246662"/>
              </p:ext>
            </p:extLst>
          </p:nvPr>
        </p:nvGraphicFramePr>
        <p:xfrm>
          <a:off x="609600" y="2768600"/>
          <a:ext cx="10972800" cy="298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982294016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4266708236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2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Внешний формат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62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2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Контракт для портала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6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90731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Разные публикации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Единый набор метрик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05328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Месяц и техническая дата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Общий отчётный месяц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5397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Валютные колонки и млн ₽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RUB </a:t>
                      </a: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и согласованные единицы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70183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Новые значения и исправления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Загрузка с журналом результата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92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93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A38B9-1658-1D0C-C554-E910F91A3358}"/>
              </a:ext>
            </a:extLst>
          </p:cNvPr>
          <p:cNvSpPr txBox="1"/>
          <p:nvPr/>
        </p:nvSpPr>
        <p:spPr>
          <a:xfrm>
            <a:off x="609600" y="482599"/>
            <a:ext cx="10972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b="1">
                <a:solidFill>
                  <a:srgbClr val="123F36"/>
                </a:solidFill>
                <a:latin typeface="Arial" panose="020B0604020202020204" pitchFamily="34" charset="0"/>
              </a:rPr>
              <a:t>Автоматизированный цикл обновления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E4FFC-BCF5-3797-2645-096CCC449D37}"/>
              </a:ext>
            </a:extLst>
          </p:cNvPr>
          <p:cNvSpPr txBox="1"/>
          <p:nvPr/>
        </p:nvSpPr>
        <p:spPr>
          <a:xfrm>
            <a:off x="11366500" y="6489700"/>
            <a:ext cx="304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100">
                <a:solidFill>
                  <a:srgbClr val="5B6D66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72208-4C2F-793A-7FD1-945BCFE2745A}"/>
              </a:ext>
            </a:extLst>
          </p:cNvPr>
          <p:cNvSpPr txBox="1"/>
          <p:nvPr/>
        </p:nvSpPr>
        <p:spPr>
          <a:xfrm>
            <a:off x="609600" y="1549399"/>
            <a:ext cx="109728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5B6D66"/>
                </a:solidFill>
                <a:latin typeface="Arial" panose="020B0604020202020204" pitchFamily="34" charset="0"/>
              </a:rPr>
              <a:t>Ежедневная проверка источника, месячная статистика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4D1BF01-D4E1-BE68-5475-E71B873E39B5}"/>
              </a:ext>
            </a:extLst>
          </p:cNvPr>
          <p:cNvSpPr/>
          <p:nvPr/>
        </p:nvSpPr>
        <p:spPr>
          <a:xfrm>
            <a:off x="609600" y="2984500"/>
            <a:ext cx="1828800" cy="11684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ru-RU" sz="2000">
                <a:solidFill>
                  <a:srgbClr val="123F36"/>
                </a:solidFill>
                <a:latin typeface="Arial" panose="020B0604020202020204" pitchFamily="34" charset="0"/>
              </a:rPr>
              <a:t>Банк</a:t>
            </a:r>
            <a:br>
              <a:rPr lang="ru-RU" sz="2000">
                <a:solidFill>
                  <a:srgbClr val="123F36"/>
                </a:solidFill>
                <a:latin typeface="Arial" panose="020B0604020202020204" pitchFamily="34" charset="0"/>
              </a:rPr>
            </a:br>
            <a:r>
              <a:rPr lang="ru-RU" sz="2000">
                <a:solidFill>
                  <a:srgbClr val="123F36"/>
                </a:solidFill>
                <a:latin typeface="Arial" panose="020B0604020202020204" pitchFamily="34" charset="0"/>
              </a:rPr>
              <a:t>России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953E84-503F-7004-E5DB-E545475F9D52}"/>
              </a:ext>
            </a:extLst>
          </p:cNvPr>
          <p:cNvSpPr/>
          <p:nvPr/>
        </p:nvSpPr>
        <p:spPr>
          <a:xfrm>
            <a:off x="2895600" y="2984500"/>
            <a:ext cx="1828800" cy="11684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ru-RU" sz="2000">
                <a:solidFill>
                  <a:srgbClr val="123F36"/>
                </a:solidFill>
                <a:latin typeface="Arial" panose="020B0604020202020204" pitchFamily="34" charset="0"/>
              </a:rPr>
              <a:t>Проверка</a:t>
            </a:r>
            <a:br>
              <a:rPr lang="ru-RU" sz="2000">
                <a:solidFill>
                  <a:srgbClr val="123F36"/>
                </a:solidFill>
                <a:latin typeface="Arial" panose="020B0604020202020204" pitchFamily="34" charset="0"/>
              </a:rPr>
            </a:br>
            <a:r>
              <a:rPr lang="ru-RU" sz="2000">
                <a:solidFill>
                  <a:srgbClr val="123F36"/>
                </a:solidFill>
                <a:latin typeface="Arial" panose="020B0604020202020204" pitchFamily="34" charset="0"/>
              </a:rPr>
              <a:t>и </a:t>
            </a:r>
            <a:r>
              <a:rPr lang="en-US" sz="2000">
                <a:solidFill>
                  <a:srgbClr val="123F36"/>
                </a:solidFill>
                <a:latin typeface="Arial" panose="020B0604020202020204" pitchFamily="34" charset="0"/>
              </a:rPr>
              <a:t>RUB</a:t>
            </a:r>
            <a:endParaRPr lang="ru-RU" sz="20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9A149E-22B3-231F-9E43-4670A4C7FFD4}"/>
              </a:ext>
            </a:extLst>
          </p:cNvPr>
          <p:cNvSpPr/>
          <p:nvPr/>
        </p:nvSpPr>
        <p:spPr>
          <a:xfrm>
            <a:off x="5181600" y="2984500"/>
            <a:ext cx="1828800" cy="11684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en-US" sz="2000">
                <a:solidFill>
                  <a:srgbClr val="123F36"/>
                </a:solidFill>
                <a:latin typeface="Arial" panose="020B0604020202020204" pitchFamily="34" charset="0"/>
              </a:rPr>
              <a:t>PostgreSQL</a:t>
            </a:r>
            <a:endParaRPr lang="ru-RU" sz="20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1DFEB9-3059-95EA-3762-C26332D20E8E}"/>
              </a:ext>
            </a:extLst>
          </p:cNvPr>
          <p:cNvSpPr/>
          <p:nvPr/>
        </p:nvSpPr>
        <p:spPr>
          <a:xfrm>
            <a:off x="7467600" y="2984500"/>
            <a:ext cx="1828800" cy="11684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ru-RU" sz="2000">
                <a:solidFill>
                  <a:srgbClr val="123F36"/>
                </a:solidFill>
                <a:latin typeface="Arial" panose="020B0604020202020204" pitchFamily="34" charset="0"/>
              </a:rPr>
              <a:t>Наш </a:t>
            </a:r>
            <a:r>
              <a:rPr lang="en-US" sz="2000">
                <a:solidFill>
                  <a:srgbClr val="123F36"/>
                </a:solidFill>
                <a:latin typeface="Arial" panose="020B0604020202020204" pitchFamily="34" charset="0"/>
              </a:rPr>
              <a:t>API</a:t>
            </a:r>
            <a:endParaRPr lang="ru-RU" sz="20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79937D7-92E2-B0D1-AECA-8511A4F5F569}"/>
              </a:ext>
            </a:extLst>
          </p:cNvPr>
          <p:cNvSpPr/>
          <p:nvPr/>
        </p:nvSpPr>
        <p:spPr>
          <a:xfrm>
            <a:off x="9753600" y="2984500"/>
            <a:ext cx="1828800" cy="11684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en-US" sz="2000">
                <a:solidFill>
                  <a:srgbClr val="123F36"/>
                </a:solidFill>
                <a:latin typeface="Arial" panose="020B0604020202020204" pitchFamily="34" charset="0"/>
              </a:rPr>
              <a:t>Dashboard</a:t>
            </a:r>
            <a:endParaRPr lang="ru-RU" sz="20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6B38308-AA15-CFC5-CD6D-C6B1942BFFDC}"/>
              </a:ext>
            </a:extLst>
          </p:cNvPr>
          <p:cNvCxnSpPr/>
          <p:nvPr/>
        </p:nvCxnSpPr>
        <p:spPr>
          <a:xfrm>
            <a:off x="2438400" y="3568700"/>
            <a:ext cx="381000" cy="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E6BF7127-C677-5956-5F73-27343086839F}"/>
              </a:ext>
            </a:extLst>
          </p:cNvPr>
          <p:cNvCxnSpPr/>
          <p:nvPr/>
        </p:nvCxnSpPr>
        <p:spPr>
          <a:xfrm>
            <a:off x="4724400" y="3568700"/>
            <a:ext cx="381000" cy="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6776E7EB-AFB5-CB98-39CA-FEB6F3D10C48}"/>
              </a:ext>
            </a:extLst>
          </p:cNvPr>
          <p:cNvCxnSpPr/>
          <p:nvPr/>
        </p:nvCxnSpPr>
        <p:spPr>
          <a:xfrm>
            <a:off x="7010400" y="3568700"/>
            <a:ext cx="381000" cy="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F48EC04-8E51-F89E-E717-0BFF9F308684}"/>
              </a:ext>
            </a:extLst>
          </p:cNvPr>
          <p:cNvCxnSpPr/>
          <p:nvPr/>
        </p:nvCxnSpPr>
        <p:spPr>
          <a:xfrm>
            <a:off x="9296400" y="3568700"/>
            <a:ext cx="381000" cy="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4063777-6DDB-C279-24CF-2AC0EEBDD39F}"/>
              </a:ext>
            </a:extLst>
          </p:cNvPr>
          <p:cNvSpPr txBox="1"/>
          <p:nvPr/>
        </p:nvSpPr>
        <p:spPr>
          <a:xfrm>
            <a:off x="609600" y="4914899"/>
            <a:ext cx="10972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Запуск по расписанию, при старте или вручную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7CE7C-E4DD-510E-EEC4-8330814920DD}"/>
              </a:ext>
            </a:extLst>
          </p:cNvPr>
          <p:cNvSpPr txBox="1"/>
          <p:nvPr/>
        </p:nvSpPr>
        <p:spPr>
          <a:xfrm>
            <a:off x="609600" y="5600699"/>
            <a:ext cx="10972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Сохраняются исходные ответы и метаданные</a:t>
            </a:r>
          </a:p>
        </p:txBody>
      </p:sp>
    </p:spTree>
    <p:extLst>
      <p:ext uri="{BB962C8B-B14F-4D97-AF65-F5344CB8AC3E}">
        <p14:creationId xmlns:p14="http://schemas.microsoft.com/office/powerpoint/2010/main" val="147240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F4CB0A-830B-F1C9-B9A2-C88C3B1F1B59}"/>
              </a:ext>
            </a:extLst>
          </p:cNvPr>
          <p:cNvSpPr txBox="1"/>
          <p:nvPr/>
        </p:nvSpPr>
        <p:spPr>
          <a:xfrm>
            <a:off x="609600" y="482599"/>
            <a:ext cx="10972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b="1">
                <a:solidFill>
                  <a:srgbClr val="123F36"/>
                </a:solidFill>
                <a:latin typeface="Arial" panose="020B0604020202020204" pitchFamily="34" charset="0"/>
              </a:rPr>
              <a:t>Архитектура </a:t>
            </a:r>
            <a:r>
              <a:rPr lang="en-US" sz="3200" b="1">
                <a:solidFill>
                  <a:srgbClr val="123F36"/>
                </a:solidFill>
                <a:latin typeface="Arial" panose="020B0604020202020204" pitchFamily="34" charset="0"/>
              </a:rPr>
              <a:t>MVP</a:t>
            </a:r>
            <a:endParaRPr lang="ru-RU" sz="3200" b="1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19CFB-D198-DCF8-40DE-F78F0BB949E2}"/>
              </a:ext>
            </a:extLst>
          </p:cNvPr>
          <p:cNvSpPr txBox="1"/>
          <p:nvPr/>
        </p:nvSpPr>
        <p:spPr>
          <a:xfrm>
            <a:off x="11366500" y="6489700"/>
            <a:ext cx="304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100">
                <a:solidFill>
                  <a:srgbClr val="5B6D66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24C4FC-4314-38F7-F807-EB250AB84E13}"/>
              </a:ext>
            </a:extLst>
          </p:cNvPr>
          <p:cNvSpPr/>
          <p:nvPr/>
        </p:nvSpPr>
        <p:spPr>
          <a:xfrm>
            <a:off x="609600" y="2247900"/>
            <a:ext cx="2222500" cy="11430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ru-RU" sz="1900">
                <a:solidFill>
                  <a:srgbClr val="123F36"/>
                </a:solidFill>
                <a:latin typeface="Arial" panose="020B0604020202020204" pitchFamily="34" charset="0"/>
              </a:rPr>
              <a:t>Банк России</a:t>
            </a:r>
            <a:br>
              <a:rPr lang="ru-RU" sz="1900">
                <a:solidFill>
                  <a:srgbClr val="123F36"/>
                </a:solidFill>
                <a:latin typeface="Arial" panose="020B0604020202020204" pitchFamily="34" charset="0"/>
              </a:rPr>
            </a:br>
            <a:r>
              <a:rPr lang="en-US" sz="1900">
                <a:solidFill>
                  <a:srgbClr val="123F36"/>
                </a:solidFill>
                <a:latin typeface="Arial" panose="020B0604020202020204" pitchFamily="34" charset="0"/>
              </a:rPr>
              <a:t>Data Service</a:t>
            </a:r>
            <a:endParaRPr lang="ru-RU" sz="19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A7970FA-DF99-DF86-DDAC-6CBC6767D030}"/>
              </a:ext>
            </a:extLst>
          </p:cNvPr>
          <p:cNvSpPr/>
          <p:nvPr/>
        </p:nvSpPr>
        <p:spPr>
          <a:xfrm>
            <a:off x="3568700" y="2006600"/>
            <a:ext cx="4648200" cy="16764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endParaRPr lang="ru-RU" sz="23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19516-E358-09FE-1CAC-01F525433D71}"/>
              </a:ext>
            </a:extLst>
          </p:cNvPr>
          <p:cNvSpPr txBox="1"/>
          <p:nvPr/>
        </p:nvSpPr>
        <p:spPr>
          <a:xfrm>
            <a:off x="3797300" y="2158999"/>
            <a:ext cx="4191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23F36"/>
                </a:solidFill>
                <a:latin typeface="Arial" panose="020B0604020202020204" pitchFamily="34" charset="0"/>
              </a:rPr>
              <a:t>Fastify + TypeScript</a:t>
            </a:r>
            <a:endParaRPr lang="ru-RU" sz="2300" b="1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71BB08-BD25-B581-BFB8-9FD9FD709EBA}"/>
              </a:ext>
            </a:extLst>
          </p:cNvPr>
          <p:cNvSpPr txBox="1"/>
          <p:nvPr/>
        </p:nvSpPr>
        <p:spPr>
          <a:xfrm>
            <a:off x="3797300" y="2641599"/>
            <a:ext cx="4191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123F36"/>
                </a:solidFill>
                <a:latin typeface="Arial" panose="020B0604020202020204" pitchFamily="34" charset="0"/>
              </a:rPr>
              <a:t>CBR · Sync · Mortgage · Analytics</a:t>
            </a:r>
            <a:endParaRPr lang="ru-RU" sz="17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FBB14-3447-430D-0B31-9BC90812C4BF}"/>
              </a:ext>
            </a:extLst>
          </p:cNvPr>
          <p:cNvSpPr txBox="1"/>
          <p:nvPr/>
        </p:nvSpPr>
        <p:spPr>
          <a:xfrm>
            <a:off x="3797300" y="3162299"/>
            <a:ext cx="4191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123F36"/>
                </a:solidFill>
                <a:latin typeface="Arial" panose="020B0604020202020204" pitchFamily="34" charset="0"/>
              </a:rPr>
              <a:t>Scheduler </a:t>
            </a:r>
            <a:r>
              <a:rPr lang="ru-RU" sz="1700">
                <a:solidFill>
                  <a:srgbClr val="123F36"/>
                </a:solidFill>
                <a:latin typeface="Arial" panose="020B0604020202020204" pitchFamily="34" charset="0"/>
              </a:rPr>
              <a:t>и ручной запуск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2104B4F-9177-1362-10A2-E713A7BC41A2}"/>
              </a:ext>
            </a:extLst>
          </p:cNvPr>
          <p:cNvSpPr/>
          <p:nvPr/>
        </p:nvSpPr>
        <p:spPr>
          <a:xfrm>
            <a:off x="8953500" y="2247900"/>
            <a:ext cx="2628900" cy="11430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en-US" sz="1900">
                <a:solidFill>
                  <a:srgbClr val="123F36"/>
                </a:solidFill>
                <a:latin typeface="Arial" panose="020B0604020202020204" pitchFamily="34" charset="0"/>
              </a:rPr>
              <a:t>PostgreSQL</a:t>
            </a:r>
            <a:br>
              <a:rPr lang="en-US" sz="1900">
                <a:solidFill>
                  <a:srgbClr val="123F36"/>
                </a:solidFill>
                <a:latin typeface="Arial" panose="020B0604020202020204" pitchFamily="34" charset="0"/>
              </a:rPr>
            </a:br>
            <a:r>
              <a:rPr lang="en-US" sz="1900">
                <a:solidFill>
                  <a:srgbClr val="123F36"/>
                </a:solidFill>
                <a:latin typeface="Arial" panose="020B0604020202020204" pitchFamily="34" charset="0"/>
              </a:rPr>
              <a:t>Prisma · SyncLog</a:t>
            </a:r>
            <a:endParaRPr lang="ru-RU" sz="19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0909EF7-0D85-2318-E60D-EB1B6B75FF56}"/>
              </a:ext>
            </a:extLst>
          </p:cNvPr>
          <p:cNvCxnSpPr/>
          <p:nvPr/>
        </p:nvCxnSpPr>
        <p:spPr>
          <a:xfrm>
            <a:off x="2832100" y="2819400"/>
            <a:ext cx="647700" cy="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7A4C2BA-93D6-E99A-4D32-C04A36946531}"/>
              </a:ext>
            </a:extLst>
          </p:cNvPr>
          <p:cNvCxnSpPr/>
          <p:nvPr/>
        </p:nvCxnSpPr>
        <p:spPr>
          <a:xfrm>
            <a:off x="8216900" y="2819400"/>
            <a:ext cx="647700" cy="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761764-13AA-029F-A60F-13A389D46BD4}"/>
              </a:ext>
            </a:extLst>
          </p:cNvPr>
          <p:cNvSpPr/>
          <p:nvPr/>
        </p:nvSpPr>
        <p:spPr>
          <a:xfrm>
            <a:off x="3568700" y="4673600"/>
            <a:ext cx="2286000" cy="9271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en-US" sz="2000">
                <a:solidFill>
                  <a:srgbClr val="123F36"/>
                </a:solidFill>
                <a:latin typeface="Arial" panose="020B0604020202020204" pitchFamily="34" charset="0"/>
              </a:rPr>
              <a:t>nginx</a:t>
            </a:r>
            <a:br>
              <a:rPr lang="en-US" sz="2000">
                <a:solidFill>
                  <a:srgbClr val="123F36"/>
                </a:solidFill>
                <a:latin typeface="Arial" panose="020B0604020202020204" pitchFamily="34" charset="0"/>
              </a:rPr>
            </a:br>
            <a:r>
              <a:rPr lang="en-US" sz="2000">
                <a:solidFill>
                  <a:srgbClr val="123F36"/>
                </a:solidFill>
                <a:latin typeface="Arial" panose="020B0604020202020204" pitchFamily="34" charset="0"/>
              </a:rPr>
              <a:t>proxy</a:t>
            </a:r>
            <a:endParaRPr lang="ru-RU" sz="20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D2C4595-66E0-0822-E257-0480125BCB89}"/>
              </a:ext>
            </a:extLst>
          </p:cNvPr>
          <p:cNvSpPr/>
          <p:nvPr/>
        </p:nvSpPr>
        <p:spPr>
          <a:xfrm>
            <a:off x="7162800" y="4673600"/>
            <a:ext cx="2921000" cy="9271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en-US" sz="2000">
                <a:solidFill>
                  <a:srgbClr val="123F36"/>
                </a:solidFill>
                <a:latin typeface="Arial" panose="020B0604020202020204" pitchFamily="34" charset="0"/>
              </a:rPr>
              <a:t>React dashboard</a:t>
            </a:r>
            <a:endParaRPr lang="ru-RU" sz="20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DD9162F-29F6-FF64-C84D-E109D3B170A9}"/>
              </a:ext>
            </a:extLst>
          </p:cNvPr>
          <p:cNvCxnSpPr/>
          <p:nvPr/>
        </p:nvCxnSpPr>
        <p:spPr>
          <a:xfrm>
            <a:off x="4711700" y="3759200"/>
            <a:ext cx="0" cy="82550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87D3FF9-C77A-5E71-C16B-C1C3FE1B0652}"/>
              </a:ext>
            </a:extLst>
          </p:cNvPr>
          <p:cNvCxnSpPr/>
          <p:nvPr/>
        </p:nvCxnSpPr>
        <p:spPr>
          <a:xfrm>
            <a:off x="5854700" y="5130800"/>
            <a:ext cx="1219200" cy="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A7F62F6-83E3-7940-C447-28BB469E50E7}"/>
              </a:ext>
            </a:extLst>
          </p:cNvPr>
          <p:cNvSpPr txBox="1"/>
          <p:nvPr/>
        </p:nvSpPr>
        <p:spPr>
          <a:xfrm>
            <a:off x="609600" y="5968999"/>
            <a:ext cx="10972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900">
                <a:solidFill>
                  <a:srgbClr val="5B6D66"/>
                </a:solidFill>
                <a:latin typeface="Arial" panose="020B0604020202020204" pitchFamily="34" charset="0"/>
              </a:rPr>
              <a:t>Swagger описывает API. Docker Compose запускает три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379802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33C5A2-F513-C4BA-6CA6-69D9DBF2321A}"/>
              </a:ext>
            </a:extLst>
          </p:cNvPr>
          <p:cNvSpPr txBox="1"/>
          <p:nvPr/>
        </p:nvSpPr>
        <p:spPr>
          <a:xfrm>
            <a:off x="609600" y="482599"/>
            <a:ext cx="10972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b="1">
                <a:solidFill>
                  <a:srgbClr val="123F36"/>
                </a:solidFill>
                <a:latin typeface="Arial" panose="020B0604020202020204" pitchFamily="34" charset="0"/>
              </a:rPr>
              <a:t>Правила интеграции с Банком России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0719C-209C-6C3F-1B80-665335698CB9}"/>
              </a:ext>
            </a:extLst>
          </p:cNvPr>
          <p:cNvSpPr txBox="1"/>
          <p:nvPr/>
        </p:nvSpPr>
        <p:spPr>
          <a:xfrm>
            <a:off x="11366500" y="6489700"/>
            <a:ext cx="304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100">
                <a:solidFill>
                  <a:srgbClr val="5B6D66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B174D-1FF3-6B1C-36D1-48C4FEA1E135}"/>
              </a:ext>
            </a:extLst>
          </p:cNvPr>
          <p:cNvSpPr txBox="1"/>
          <p:nvPr/>
        </p:nvSpPr>
        <p:spPr>
          <a:xfrm>
            <a:off x="609600" y="1549399"/>
            <a:ext cx="109728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5B6D66"/>
                </a:solidFill>
                <a:latin typeface="Arial" panose="020B0604020202020204" pitchFamily="34" charset="0"/>
              </a:rPr>
              <a:t>Шесть метрик и четыре территориальных разреза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F11DD-E930-B6C2-F00E-D4743429D70F}"/>
              </a:ext>
            </a:extLst>
          </p:cNvPr>
          <p:cNvSpPr txBox="1"/>
          <p:nvPr/>
        </p:nvSpPr>
        <p:spPr>
          <a:xfrm>
            <a:off x="609600" y="2793999"/>
            <a:ext cx="508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500" b="1">
                <a:solidFill>
                  <a:srgbClr val="123F36"/>
                </a:solidFill>
                <a:latin typeface="Arial" panose="020B0604020202020204" pitchFamily="34" charset="0"/>
              </a:rPr>
              <a:t>Выдачи за январь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7CDE7-629B-9BBD-D3B1-A3E3693E65D1}"/>
              </a:ext>
            </a:extLst>
          </p:cNvPr>
          <p:cNvSpPr txBox="1"/>
          <p:nvPr/>
        </p:nvSpPr>
        <p:spPr>
          <a:xfrm>
            <a:off x="609600" y="3479799"/>
            <a:ext cx="5080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900">
                <a:solidFill>
                  <a:srgbClr val="5B6D66"/>
                </a:solidFill>
                <a:latin typeface="Arial" panose="020B0604020202020204" pitchFamily="34" charset="0"/>
              </a:rPr>
              <a:t>Техническая дата: 01.02.2026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B2A5F-4C81-1C57-7EE1-C7DB7BEDB995}"/>
              </a:ext>
            </a:extLst>
          </p:cNvPr>
          <p:cNvSpPr txBox="1"/>
          <p:nvPr/>
        </p:nvSpPr>
        <p:spPr>
          <a:xfrm>
            <a:off x="609600" y="4063999"/>
            <a:ext cx="508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300" b="1">
                <a:solidFill>
                  <a:srgbClr val="17624E"/>
                </a:solidFill>
                <a:latin typeface="Arial" panose="020B0604020202020204" pitchFamily="34" charset="0"/>
              </a:rPr>
              <a:t>Отчётный месяц: 2026-01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CFA8D3-63CB-5980-D561-E78020E0B587}"/>
              </a:ext>
            </a:extLst>
          </p:cNvPr>
          <p:cNvSpPr txBox="1"/>
          <p:nvPr/>
        </p:nvSpPr>
        <p:spPr>
          <a:xfrm>
            <a:off x="6527800" y="2793999"/>
            <a:ext cx="5054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500" b="1">
                <a:solidFill>
                  <a:srgbClr val="123F36"/>
                </a:solidFill>
                <a:latin typeface="Arial" panose="020B0604020202020204" pitchFamily="34" charset="0"/>
              </a:rPr>
              <a:t>Остаток на 1 февраля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86D4F-19C3-F744-6152-A72A31D7E635}"/>
              </a:ext>
            </a:extLst>
          </p:cNvPr>
          <p:cNvSpPr txBox="1"/>
          <p:nvPr/>
        </p:nvSpPr>
        <p:spPr>
          <a:xfrm>
            <a:off x="6527800" y="3479799"/>
            <a:ext cx="5054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900">
                <a:solidFill>
                  <a:srgbClr val="5B6D66"/>
                </a:solidFill>
                <a:latin typeface="Arial" panose="020B0604020202020204" pitchFamily="34" charset="0"/>
              </a:rPr>
              <a:t>Состояние на конец января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095D3-73F2-6940-87F2-E0FC1E3C25BD}"/>
              </a:ext>
            </a:extLst>
          </p:cNvPr>
          <p:cNvSpPr txBox="1"/>
          <p:nvPr/>
        </p:nvSpPr>
        <p:spPr>
          <a:xfrm>
            <a:off x="6527800" y="4063999"/>
            <a:ext cx="5054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300" b="1">
                <a:solidFill>
                  <a:srgbClr val="17624E"/>
                </a:solidFill>
                <a:latin typeface="Arial" panose="020B0604020202020204" pitchFamily="34" charset="0"/>
              </a:rPr>
              <a:t>Исходная дата сохранена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62AE2-86F8-50FB-5B1A-B0637F09DB84}"/>
              </a:ext>
            </a:extLst>
          </p:cNvPr>
          <p:cNvSpPr txBox="1"/>
          <p:nvPr/>
        </p:nvSpPr>
        <p:spPr>
          <a:xfrm>
            <a:off x="609600" y="5206999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Только рублёвая колонка 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897F09-1720-4D16-A531-B5B74CC9A3E6}"/>
              </a:ext>
            </a:extLst>
          </p:cNvPr>
          <p:cNvSpPr txBox="1"/>
          <p:nvPr/>
        </p:nvSpPr>
        <p:spPr>
          <a:xfrm>
            <a:off x="609600" y="5778499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Суммы: млн ₽ × 1 000 000 = ₽</a:t>
            </a:r>
          </a:p>
        </p:txBody>
      </p:sp>
    </p:spTree>
    <p:extLst>
      <p:ext uri="{BB962C8B-B14F-4D97-AF65-F5344CB8AC3E}">
        <p14:creationId xmlns:p14="http://schemas.microsoft.com/office/powerpoint/2010/main" val="1531902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BF4C04-4A3B-FDA0-3C64-8AD4C2ED8C71}"/>
              </a:ext>
            </a:extLst>
          </p:cNvPr>
          <p:cNvSpPr txBox="1"/>
          <p:nvPr/>
        </p:nvSpPr>
        <p:spPr>
          <a:xfrm>
            <a:off x="609600" y="482599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23F36"/>
                </a:solidFill>
                <a:latin typeface="Arial" panose="020B0604020202020204" pitchFamily="34" charset="0"/>
              </a:rPr>
              <a:t>Dashboard </a:t>
            </a:r>
            <a:r>
              <a:rPr lang="ru-RU" sz="3200" b="1">
                <a:solidFill>
                  <a:srgbClr val="123F36"/>
                </a:solidFill>
                <a:latin typeface="Arial" panose="020B0604020202020204" pitchFamily="34" charset="0"/>
              </a:rPr>
              <a:t>и аналитика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B2FBE-49B1-1DC6-1F52-2FA6F176EC99}"/>
              </a:ext>
            </a:extLst>
          </p:cNvPr>
          <p:cNvSpPr txBox="1"/>
          <p:nvPr/>
        </p:nvSpPr>
        <p:spPr>
          <a:xfrm>
            <a:off x="11366500" y="6489700"/>
            <a:ext cx="304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100">
                <a:solidFill>
                  <a:srgbClr val="5B6D66"/>
                </a:solidFill>
                <a:latin typeface="Arial" panose="020B0604020202020204" pitchFamily="34" charset="0"/>
              </a:rPr>
              <a:t>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D472B0-3E66-D3ED-7161-7F01C4FDD0E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8128000" cy="50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E95302-44B1-D011-451B-941C1D911C8C}"/>
              </a:ext>
            </a:extLst>
          </p:cNvPr>
          <p:cNvSpPr txBox="1"/>
          <p:nvPr/>
        </p:nvSpPr>
        <p:spPr>
          <a:xfrm>
            <a:off x="9271000" y="2285999"/>
            <a:ext cx="2311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100" b="1">
                <a:solidFill>
                  <a:srgbClr val="17624E"/>
                </a:solidFill>
                <a:latin typeface="Arial" panose="020B0604020202020204" pitchFamily="34" charset="0"/>
              </a:rPr>
              <a:t>Выбор региона</a:t>
            </a:r>
            <a:br>
              <a:rPr lang="ru-RU" sz="2100" b="1">
                <a:solidFill>
                  <a:srgbClr val="17624E"/>
                </a:solidFill>
                <a:latin typeface="Arial" panose="020B0604020202020204" pitchFamily="34" charset="0"/>
              </a:rPr>
            </a:br>
            <a:r>
              <a:rPr lang="ru-RU" sz="2100" b="1">
                <a:solidFill>
                  <a:srgbClr val="17624E"/>
                </a:solidFill>
                <a:latin typeface="Arial" panose="020B0604020202020204" pitchFamily="34" charset="0"/>
              </a:rPr>
              <a:t>и периода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C8688-7BB4-9131-C762-070FC3AA7887}"/>
              </a:ext>
            </a:extLst>
          </p:cNvPr>
          <p:cNvSpPr txBox="1"/>
          <p:nvPr/>
        </p:nvSpPr>
        <p:spPr>
          <a:xfrm>
            <a:off x="9271000" y="3809999"/>
            <a:ext cx="23114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17624E"/>
                </a:solidFill>
                <a:latin typeface="Arial" panose="020B0604020202020204" pitchFamily="34" charset="0"/>
              </a:rPr>
              <a:t>MoM / YoY</a:t>
            </a:r>
            <a:endParaRPr lang="ru-RU" sz="2100" b="1">
              <a:solidFill>
                <a:srgbClr val="17624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EE9CB0-4560-D59C-086E-A7A2E0224228}"/>
              </a:ext>
            </a:extLst>
          </p:cNvPr>
          <p:cNvSpPr txBox="1"/>
          <p:nvPr/>
        </p:nvSpPr>
        <p:spPr>
          <a:xfrm>
            <a:off x="9271000" y="5206999"/>
            <a:ext cx="23114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100" b="1">
                <a:solidFill>
                  <a:srgbClr val="17624E"/>
                </a:solidFill>
                <a:latin typeface="Arial" panose="020B0604020202020204" pitchFamily="34" charset="0"/>
              </a:rPr>
              <a:t>Выгрузка </a:t>
            </a:r>
            <a:r>
              <a:rPr lang="en-US" sz="2100" b="1">
                <a:solidFill>
                  <a:srgbClr val="17624E"/>
                </a:solidFill>
                <a:latin typeface="Arial" panose="020B0604020202020204" pitchFamily="34" charset="0"/>
              </a:rPr>
              <a:t>CSV</a:t>
            </a:r>
            <a:endParaRPr lang="ru-RU" sz="2100" b="1">
              <a:solidFill>
                <a:srgbClr val="17624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458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7AF80B-9A58-6211-4E60-0759F9190171}"/>
              </a:ext>
            </a:extLst>
          </p:cNvPr>
          <p:cNvSpPr txBox="1"/>
          <p:nvPr/>
        </p:nvSpPr>
        <p:spPr>
          <a:xfrm>
            <a:off x="609600" y="482599"/>
            <a:ext cx="10972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b="1">
                <a:solidFill>
                  <a:srgbClr val="123F36"/>
                </a:solidFill>
                <a:latin typeface="Arial" panose="020B0604020202020204" pitchFamily="34" charset="0"/>
              </a:rPr>
              <a:t>Надёжность синхронизации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2C1B5-47FE-3BFE-99E3-4288551EB822}"/>
              </a:ext>
            </a:extLst>
          </p:cNvPr>
          <p:cNvSpPr txBox="1"/>
          <p:nvPr/>
        </p:nvSpPr>
        <p:spPr>
          <a:xfrm>
            <a:off x="11366500" y="6489700"/>
            <a:ext cx="304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100">
                <a:solidFill>
                  <a:srgbClr val="5B6D66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A87AEE-8CF1-B510-6CAE-A0F6D531BBF4}"/>
              </a:ext>
            </a:extLst>
          </p:cNvPr>
          <p:cNvSpPr/>
          <p:nvPr/>
        </p:nvSpPr>
        <p:spPr>
          <a:xfrm>
            <a:off x="609600" y="1993900"/>
            <a:ext cx="2857500" cy="10414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ru-RU" sz="2100">
                <a:solidFill>
                  <a:srgbClr val="123F36"/>
                </a:solidFill>
                <a:latin typeface="Arial" panose="020B0604020202020204" pitchFamily="34" charset="0"/>
              </a:rPr>
              <a:t>Процесс </a:t>
            </a:r>
            <a:r>
              <a:rPr lang="en-US" sz="2100">
                <a:solidFill>
                  <a:srgbClr val="123F36"/>
                </a:solidFill>
                <a:latin typeface="Arial" panose="020B0604020202020204" pitchFamily="34" charset="0"/>
              </a:rPr>
              <a:t>A</a:t>
            </a:r>
            <a:br>
              <a:rPr lang="en-US" sz="2100">
                <a:solidFill>
                  <a:srgbClr val="123F36"/>
                </a:solidFill>
                <a:latin typeface="Arial" panose="020B0604020202020204" pitchFamily="34" charset="0"/>
              </a:rPr>
            </a:br>
            <a:r>
              <a:rPr lang="ru-RU" sz="2100">
                <a:solidFill>
                  <a:srgbClr val="123F36"/>
                </a:solidFill>
                <a:latin typeface="Arial" panose="020B0604020202020204" pitchFamily="34" charset="0"/>
              </a:rPr>
              <a:t>получает </a:t>
            </a:r>
            <a:r>
              <a:rPr lang="en-US" sz="2100">
                <a:solidFill>
                  <a:srgbClr val="123F36"/>
                </a:solidFill>
                <a:latin typeface="Arial" panose="020B0604020202020204" pitchFamily="34" charset="0"/>
              </a:rPr>
              <a:t>lease</a:t>
            </a:r>
            <a:endParaRPr lang="ru-RU" sz="21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8F5B60F-0B14-058A-9D9A-0741F0517B7A}"/>
              </a:ext>
            </a:extLst>
          </p:cNvPr>
          <p:cNvSpPr/>
          <p:nvPr/>
        </p:nvSpPr>
        <p:spPr>
          <a:xfrm>
            <a:off x="4699000" y="1993900"/>
            <a:ext cx="2794000" cy="1041400"/>
          </a:xfrm>
          <a:prstGeom prst="rect">
            <a:avLst/>
          </a:prstGeom>
          <a:solidFill>
            <a:srgbClr val="EC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en-US" sz="2100">
                <a:solidFill>
                  <a:srgbClr val="123F36"/>
                </a:solidFill>
                <a:latin typeface="Arial" panose="020B0604020202020204" pitchFamily="34" charset="0"/>
              </a:rPr>
              <a:t>PostgreSQL</a:t>
            </a:r>
            <a:br>
              <a:rPr lang="en-US" sz="2100">
                <a:solidFill>
                  <a:srgbClr val="123F36"/>
                </a:solidFill>
                <a:latin typeface="Arial" panose="020B0604020202020204" pitchFamily="34" charset="0"/>
              </a:rPr>
            </a:br>
            <a:r>
              <a:rPr lang="ru-RU" sz="2100">
                <a:solidFill>
                  <a:srgbClr val="123F36"/>
                </a:solidFill>
                <a:latin typeface="Arial" panose="020B0604020202020204" pitchFamily="34" charset="0"/>
              </a:rPr>
              <a:t>один </a:t>
            </a:r>
            <a:r>
              <a:rPr lang="en-US" sz="2100">
                <a:solidFill>
                  <a:srgbClr val="123F36"/>
                </a:solidFill>
                <a:latin typeface="Arial" panose="020B0604020202020204" pitchFamily="34" charset="0"/>
              </a:rPr>
              <a:t>RUNNING</a:t>
            </a:r>
            <a:endParaRPr lang="ru-RU" sz="2100">
              <a:solidFill>
                <a:srgbClr val="123F36"/>
              </a:solidFill>
              <a:latin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2DC5EE-E3CC-D0CA-296D-A1575EA7CDCA}"/>
              </a:ext>
            </a:extLst>
          </p:cNvPr>
          <p:cNvSpPr/>
          <p:nvPr/>
        </p:nvSpPr>
        <p:spPr>
          <a:xfrm>
            <a:off x="8724900" y="1993900"/>
            <a:ext cx="2857500" cy="1041400"/>
          </a:xfrm>
          <a:prstGeom prst="rect">
            <a:avLst/>
          </a:prstGeom>
          <a:solidFill>
            <a:srgbClr val="F7F0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127000" bIns="0" rtlCol="0" anchor="ctr"/>
          <a:lstStyle/>
          <a:p>
            <a:pPr algn="ctr"/>
            <a:r>
              <a:rPr lang="ru-RU" sz="2100">
                <a:solidFill>
                  <a:srgbClr val="A66535"/>
                </a:solidFill>
                <a:latin typeface="Arial" panose="020B0604020202020204" pitchFamily="34" charset="0"/>
              </a:rPr>
              <a:t>Процесс </a:t>
            </a:r>
            <a:r>
              <a:rPr lang="en-US" sz="2100">
                <a:solidFill>
                  <a:srgbClr val="A66535"/>
                </a:solidFill>
                <a:latin typeface="Arial" panose="020B0604020202020204" pitchFamily="34" charset="0"/>
              </a:rPr>
              <a:t>B</a:t>
            </a:r>
            <a:br>
              <a:rPr lang="en-US" sz="2100">
                <a:solidFill>
                  <a:srgbClr val="A66535"/>
                </a:solidFill>
                <a:latin typeface="Arial" panose="020B0604020202020204" pitchFamily="34" charset="0"/>
              </a:rPr>
            </a:br>
            <a:r>
              <a:rPr lang="en-US" sz="2100">
                <a:solidFill>
                  <a:srgbClr val="A66535"/>
                </a:solidFill>
                <a:latin typeface="Arial" panose="020B0604020202020204" pitchFamily="34" charset="0"/>
              </a:rPr>
              <a:t>HTTP 409</a:t>
            </a:r>
            <a:endParaRPr lang="ru-RU" sz="2100">
              <a:solidFill>
                <a:srgbClr val="A66535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3FEF8F2B-2394-852A-DB02-574548EEF225}"/>
              </a:ext>
            </a:extLst>
          </p:cNvPr>
          <p:cNvCxnSpPr/>
          <p:nvPr/>
        </p:nvCxnSpPr>
        <p:spPr>
          <a:xfrm>
            <a:off x="3467100" y="2514600"/>
            <a:ext cx="1143000" cy="0"/>
          </a:xfrm>
          <a:prstGeom prst="straightConnector1">
            <a:avLst/>
          </a:prstGeom>
          <a:ln w="20320">
            <a:solidFill>
              <a:srgbClr val="1762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1738081C-DE8C-8D2E-46CF-0C9603302588}"/>
              </a:ext>
            </a:extLst>
          </p:cNvPr>
          <p:cNvCxnSpPr/>
          <p:nvPr/>
        </p:nvCxnSpPr>
        <p:spPr>
          <a:xfrm flipH="1">
            <a:off x="7581900" y="2514600"/>
            <a:ext cx="1054100" cy="0"/>
          </a:xfrm>
          <a:prstGeom prst="straightConnector1">
            <a:avLst/>
          </a:prstGeom>
          <a:ln w="20320">
            <a:solidFill>
              <a:srgbClr val="A6653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666090-10C2-1569-97A4-7A13FA80011B}"/>
              </a:ext>
            </a:extLst>
          </p:cNvPr>
          <p:cNvSpPr txBox="1"/>
          <p:nvPr/>
        </p:nvSpPr>
        <p:spPr>
          <a:xfrm>
            <a:off x="609600" y="3746499"/>
            <a:ext cx="53340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400" b="1">
                <a:solidFill>
                  <a:srgbClr val="17624E"/>
                </a:solidFill>
                <a:latin typeface="Arial" panose="020B0604020202020204" pitchFamily="34" charset="0"/>
              </a:rPr>
              <a:t>Повторная загрузка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48A85D-D0C0-F9B7-15D2-3C50B6FED7F3}"/>
              </a:ext>
            </a:extLst>
          </p:cNvPr>
          <p:cNvSpPr txBox="1"/>
          <p:nvPr/>
        </p:nvSpPr>
        <p:spPr>
          <a:xfrm>
            <a:off x="609600" y="4419599"/>
            <a:ext cx="5334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  <a:t>Upsert по региону,</a:t>
            </a:r>
            <a:b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</a:br>
            <a: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  <a:t>месяцу и метрике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1CED4-DA90-7AE4-CB52-4E23695974DC}"/>
              </a:ext>
            </a:extLst>
          </p:cNvPr>
          <p:cNvSpPr txBox="1"/>
          <p:nvPr/>
        </p:nvSpPr>
        <p:spPr>
          <a:xfrm>
            <a:off x="609600" y="5346699"/>
            <a:ext cx="53340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  <a:t>SyncLog хранит</a:t>
            </a:r>
            <a:b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</a:br>
            <a: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  <a:t>статус и счётчики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48BCA7-7E1C-1188-6292-2D7B2E67D22D}"/>
              </a:ext>
            </a:extLst>
          </p:cNvPr>
          <p:cNvSpPr txBox="1"/>
          <p:nvPr/>
        </p:nvSpPr>
        <p:spPr>
          <a:xfrm>
            <a:off x="6527800" y="3746499"/>
            <a:ext cx="5054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400" b="1">
                <a:solidFill>
                  <a:srgbClr val="17624E"/>
                </a:solidFill>
                <a:latin typeface="Arial" panose="020B0604020202020204" pitchFamily="34" charset="0"/>
              </a:rPr>
              <a:t>После аварии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899E7-8AAC-A931-99EB-EF80B15F66E3}"/>
              </a:ext>
            </a:extLst>
          </p:cNvPr>
          <p:cNvSpPr txBox="1"/>
          <p:nvPr/>
        </p:nvSpPr>
        <p:spPr>
          <a:xfrm>
            <a:off x="6527800" y="4419599"/>
            <a:ext cx="50546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92F29"/>
                </a:solidFill>
                <a:latin typeface="Arial" panose="020B0604020202020204" pitchFamily="34" charset="0"/>
              </a:rPr>
              <a:t>Heartbeat </a:t>
            </a:r>
            <a: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  <a:t>прекращается,</a:t>
            </a:r>
            <a:b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</a:br>
            <a:r>
              <a:rPr lang="en-US" sz="2000">
                <a:solidFill>
                  <a:srgbClr val="192F29"/>
                </a:solidFill>
                <a:latin typeface="Arial" panose="020B0604020202020204" pitchFamily="34" charset="0"/>
              </a:rPr>
              <a:t>lease </a:t>
            </a:r>
            <a: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  <a:t>истекает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49DDAC-5DC3-CB4C-30B0-DCBB2EF459A0}"/>
              </a:ext>
            </a:extLst>
          </p:cNvPr>
          <p:cNvSpPr txBox="1"/>
          <p:nvPr/>
        </p:nvSpPr>
        <p:spPr>
          <a:xfrm>
            <a:off x="6527800" y="5346699"/>
            <a:ext cx="50546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  <a:t>Следующий запуск</a:t>
            </a:r>
            <a:b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</a:br>
            <a:r>
              <a:rPr lang="ru-RU" sz="2000">
                <a:solidFill>
                  <a:srgbClr val="192F29"/>
                </a:solidFill>
                <a:latin typeface="Arial" panose="020B0604020202020204" pitchFamily="34" charset="0"/>
              </a:rPr>
              <a:t>восстанавливает импорт</a:t>
            </a:r>
          </a:p>
        </p:txBody>
      </p:sp>
    </p:spTree>
    <p:extLst>
      <p:ext uri="{BB962C8B-B14F-4D97-AF65-F5344CB8AC3E}">
        <p14:creationId xmlns:p14="http://schemas.microsoft.com/office/powerpoint/2010/main" val="15316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12549A-C5D9-DAA5-C7D7-11440ECAE0E7}"/>
              </a:ext>
            </a:extLst>
          </p:cNvPr>
          <p:cNvSpPr txBox="1"/>
          <p:nvPr/>
        </p:nvSpPr>
        <p:spPr>
          <a:xfrm>
            <a:off x="609600" y="482599"/>
            <a:ext cx="10972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b="1">
                <a:solidFill>
                  <a:srgbClr val="123F36"/>
                </a:solidFill>
                <a:latin typeface="Arial" panose="020B0604020202020204" pitchFamily="34" charset="0"/>
              </a:rPr>
              <a:t>Проверки и реальные результаты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5CE95-3DEC-F40C-444F-4AC7A72CC766}"/>
              </a:ext>
            </a:extLst>
          </p:cNvPr>
          <p:cNvSpPr txBox="1"/>
          <p:nvPr/>
        </p:nvSpPr>
        <p:spPr>
          <a:xfrm>
            <a:off x="11366500" y="6489700"/>
            <a:ext cx="304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100">
                <a:solidFill>
                  <a:srgbClr val="5B6D66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7BD30-F8B9-39FA-8849-85713B469592}"/>
              </a:ext>
            </a:extLst>
          </p:cNvPr>
          <p:cNvSpPr txBox="1"/>
          <p:nvPr/>
        </p:nvSpPr>
        <p:spPr>
          <a:xfrm>
            <a:off x="609600" y="1765299"/>
            <a:ext cx="4953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624E"/>
                </a:solidFill>
                <a:latin typeface="Arial" panose="020B0604020202020204" pitchFamily="34" charset="0"/>
              </a:rPr>
              <a:t>14 unit-</a:t>
            </a:r>
            <a:r>
              <a:rPr lang="ru-RU" sz="3000" b="1">
                <a:solidFill>
                  <a:srgbClr val="17624E"/>
                </a:solidFill>
                <a:latin typeface="Arial" panose="020B0604020202020204" pitchFamily="34" charset="0"/>
              </a:rPr>
              <a:t>тестов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27F5C-0DF3-CC6E-E247-898262DDBFDF}"/>
              </a:ext>
            </a:extLst>
          </p:cNvPr>
          <p:cNvSpPr txBox="1"/>
          <p:nvPr/>
        </p:nvSpPr>
        <p:spPr>
          <a:xfrm>
            <a:off x="6096000" y="1765299"/>
            <a:ext cx="548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624E"/>
                </a:solidFill>
                <a:latin typeface="Arial" panose="020B0604020202020204" pitchFamily="34" charset="0"/>
              </a:rPr>
              <a:t>9 integration-</a:t>
            </a:r>
            <a:r>
              <a:rPr lang="ru-RU" sz="3000" b="1">
                <a:solidFill>
                  <a:srgbClr val="17624E"/>
                </a:solidFill>
                <a:latin typeface="Arial" panose="020B0604020202020204" pitchFamily="34" charset="0"/>
              </a:rPr>
              <a:t>тестов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35161-AE10-7500-A6C1-218C876F3316}"/>
              </a:ext>
            </a:extLst>
          </p:cNvPr>
          <p:cNvSpPr txBox="1"/>
          <p:nvPr/>
        </p:nvSpPr>
        <p:spPr>
          <a:xfrm>
            <a:off x="609600" y="25526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>
                <a:solidFill>
                  <a:srgbClr val="5B6D66"/>
                </a:solidFill>
                <a:latin typeface="Arial" panose="020B0604020202020204" pitchFamily="34" charset="0"/>
              </a:rPr>
              <a:t>PostgreSQL, два процесса и аварийное завершение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5B64D41-749D-FBEA-7A42-166EA043C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904811"/>
              </p:ext>
            </p:extLst>
          </p:nvPr>
        </p:nvGraphicFramePr>
        <p:xfrm>
          <a:off x="609600" y="3429000"/>
          <a:ext cx="109728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53857926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13755875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9129838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80003808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00431716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65459474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Импорт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62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Получено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62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Вставлено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62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Обновлено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62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Пропущено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62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Записей</a:t>
                      </a:r>
                      <a:br>
                        <a:rPr lang="ru-RU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</a:br>
                      <a:r>
                        <a:rPr lang="ru-RU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в БД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6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66308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Первый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1280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480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800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480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5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54339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Повторный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1280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1280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ru-RU" sz="1900" b="0">
                          <a:solidFill>
                            <a:srgbClr val="192F29"/>
                          </a:solidFill>
                          <a:latin typeface="Arial" panose="020B0604020202020204" pitchFamily="34" charset="0"/>
                        </a:rPr>
                        <a:t>480</a:t>
                      </a:r>
                    </a:p>
                  </a:txBody>
                  <a:tcPr marL="152400" marR="101600" marT="63500" marB="635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3974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6405B6-EE30-191E-BF63-50606A2EC229}"/>
              </a:ext>
            </a:extLst>
          </p:cNvPr>
          <p:cNvSpPr txBox="1"/>
          <p:nvPr/>
        </p:nvSpPr>
        <p:spPr>
          <a:xfrm>
            <a:off x="609600" y="5549899"/>
            <a:ext cx="10972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500" b="1">
                <a:solidFill>
                  <a:srgbClr val="17624E"/>
                </a:solidFill>
                <a:latin typeface="Arial" panose="020B0604020202020204" pitchFamily="34" charset="0"/>
              </a:rPr>
              <a:t>480 наблюдений после обоих импортов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CCC4F-E88F-08A8-2D28-16466D0F70B2}"/>
              </a:ext>
            </a:extLst>
          </p:cNvPr>
          <p:cNvSpPr txBox="1"/>
          <p:nvPr/>
        </p:nvSpPr>
        <p:spPr>
          <a:xfrm>
            <a:off x="609600" y="60959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5B6D66"/>
                </a:solidFill>
                <a:latin typeface="Arial" panose="020B0604020202020204" pitchFamily="34" charset="0"/>
              </a:rPr>
              <a:t>Дубли по (region, period, metric) отсутствуют</a:t>
            </a:r>
          </a:p>
        </p:txBody>
      </p:sp>
    </p:spTree>
    <p:extLst>
      <p:ext uri="{BB962C8B-B14F-4D97-AF65-F5344CB8AC3E}">
        <p14:creationId xmlns:p14="http://schemas.microsoft.com/office/powerpoint/2010/main" val="378084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80F06-55E0-C6A0-7B4D-E877650DD6A8}"/>
              </a:ext>
            </a:extLst>
          </p:cNvPr>
          <p:cNvSpPr txBox="1"/>
          <p:nvPr/>
        </p:nvSpPr>
        <p:spPr>
          <a:xfrm>
            <a:off x="609600" y="482599"/>
            <a:ext cx="10972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b="1">
                <a:solidFill>
                  <a:srgbClr val="123F36"/>
                </a:solidFill>
                <a:latin typeface="Arial" panose="020B0604020202020204" pitchFamily="34" charset="0"/>
              </a:rPr>
              <a:t>Результат MVP и следующий этап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F2AB7-2913-497C-3046-0BE45D044617}"/>
              </a:ext>
            </a:extLst>
          </p:cNvPr>
          <p:cNvSpPr txBox="1"/>
          <p:nvPr/>
        </p:nvSpPr>
        <p:spPr>
          <a:xfrm>
            <a:off x="11366500" y="6489700"/>
            <a:ext cx="304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100">
                <a:solidFill>
                  <a:srgbClr val="5B6D66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7B574-17DF-0B9E-3CA6-6D9D77775A93}"/>
              </a:ext>
            </a:extLst>
          </p:cNvPr>
          <p:cNvSpPr txBox="1"/>
          <p:nvPr/>
        </p:nvSpPr>
        <p:spPr>
          <a:xfrm>
            <a:off x="609600" y="2057399"/>
            <a:ext cx="508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600" b="1">
                <a:solidFill>
                  <a:srgbClr val="17624E"/>
                </a:solidFill>
                <a:latin typeface="Arial" panose="020B0604020202020204" pitchFamily="34" charset="0"/>
              </a:rPr>
              <a:t>Готово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A593E-CE6D-CCB2-4728-321831BA4775}"/>
              </a:ext>
            </a:extLst>
          </p:cNvPr>
          <p:cNvSpPr txBox="1"/>
          <p:nvPr/>
        </p:nvSpPr>
        <p:spPr>
          <a:xfrm>
            <a:off x="609600" y="2857499"/>
            <a:ext cx="50800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Полный ипотечный цикл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0CFA0-8236-D84F-6095-83934620E198}"/>
              </a:ext>
            </a:extLst>
          </p:cNvPr>
          <p:cNvSpPr txBox="1"/>
          <p:nvPr/>
        </p:nvSpPr>
        <p:spPr>
          <a:xfrm>
            <a:off x="609600" y="3644899"/>
            <a:ext cx="50800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Единый </a:t>
            </a:r>
            <a:r>
              <a:rPr lang="en-US" sz="2200">
                <a:solidFill>
                  <a:srgbClr val="192F29"/>
                </a:solidFill>
                <a:latin typeface="Arial" panose="020B0604020202020204" pitchFamily="34" charset="0"/>
              </a:rPr>
              <a:t>API </a:t>
            </a:r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для портала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D6F6B-6AC1-A82C-3304-D37133C8D922}"/>
              </a:ext>
            </a:extLst>
          </p:cNvPr>
          <p:cNvSpPr txBox="1"/>
          <p:nvPr/>
        </p:nvSpPr>
        <p:spPr>
          <a:xfrm>
            <a:off x="609600" y="4432299"/>
            <a:ext cx="50800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Шесть метрик,</a:t>
            </a:r>
            <a:b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</a:br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четыре разреза, RUB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ABAD3-A195-FF6C-B6D9-AE75721FB39A}"/>
              </a:ext>
            </a:extLst>
          </p:cNvPr>
          <p:cNvSpPr txBox="1"/>
          <p:nvPr/>
        </p:nvSpPr>
        <p:spPr>
          <a:xfrm>
            <a:off x="609600" y="5422899"/>
            <a:ext cx="50800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Повторный импорт без дублей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A0E6E-7BDF-F348-4167-B4F0313109F0}"/>
              </a:ext>
            </a:extLst>
          </p:cNvPr>
          <p:cNvSpPr txBox="1"/>
          <p:nvPr/>
        </p:nvSpPr>
        <p:spPr>
          <a:xfrm>
            <a:off x="6604000" y="2057399"/>
            <a:ext cx="4978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600" b="1">
                <a:solidFill>
                  <a:srgbClr val="17624E"/>
                </a:solidFill>
                <a:latin typeface="Arial" panose="020B0604020202020204" pitchFamily="34" charset="0"/>
              </a:rPr>
              <a:t>Перед </a:t>
            </a:r>
            <a:r>
              <a:rPr lang="en-US" sz="2600" b="1">
                <a:solidFill>
                  <a:srgbClr val="17624E"/>
                </a:solidFill>
                <a:latin typeface="Arial" panose="020B0604020202020204" pitchFamily="34" charset="0"/>
              </a:rPr>
              <a:t>production</a:t>
            </a:r>
            <a:endParaRPr lang="ru-RU" sz="2600" b="1">
              <a:solidFill>
                <a:srgbClr val="17624E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3534C4-80B0-C831-C6FB-88B2E755E2C0}"/>
              </a:ext>
            </a:extLst>
          </p:cNvPr>
          <p:cNvSpPr txBox="1"/>
          <p:nvPr/>
        </p:nvSpPr>
        <p:spPr>
          <a:xfrm>
            <a:off x="6604000" y="2857499"/>
            <a:ext cx="49784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Авторизация ручного </a:t>
            </a:r>
            <a:r>
              <a:rPr lang="en-US" sz="2200">
                <a:solidFill>
                  <a:srgbClr val="192F29"/>
                </a:solidFill>
                <a:latin typeface="Arial" panose="020B0604020202020204" pitchFamily="34" charset="0"/>
              </a:rPr>
              <a:t>sync</a:t>
            </a:r>
            <a:endParaRPr lang="ru-RU" sz="2200">
              <a:solidFill>
                <a:srgbClr val="192F29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C8F08-DBDB-485B-6811-55EDAE5B15AC}"/>
              </a:ext>
            </a:extLst>
          </p:cNvPr>
          <p:cNvSpPr txBox="1"/>
          <p:nvPr/>
        </p:nvSpPr>
        <p:spPr>
          <a:xfrm>
            <a:off x="6604000" y="3644899"/>
            <a:ext cx="49784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Мониторинг</a:t>
            </a:r>
            <a:b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</a:br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и </a:t>
            </a:r>
            <a:r>
              <a:rPr lang="en-US" sz="2200">
                <a:solidFill>
                  <a:srgbClr val="192F29"/>
                </a:solidFill>
                <a:latin typeface="Arial" panose="020B0604020202020204" pitchFamily="34" charset="0"/>
              </a:rPr>
              <a:t>browser E2E</a:t>
            </a:r>
            <a:endParaRPr lang="ru-RU" sz="2200">
              <a:solidFill>
                <a:srgbClr val="192F29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14183-DEE1-2311-18B5-44F3662C7751}"/>
              </a:ext>
            </a:extLst>
          </p:cNvPr>
          <p:cNvSpPr txBox="1"/>
          <p:nvPr/>
        </p:nvSpPr>
        <p:spPr>
          <a:xfrm>
            <a:off x="6604000" y="4635499"/>
            <a:ext cx="49784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Расширение регионов</a:t>
            </a:r>
            <a:b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</a:br>
            <a:r>
              <a:rPr lang="ru-RU" sz="2200">
                <a:solidFill>
                  <a:srgbClr val="192F29"/>
                </a:solidFill>
                <a:latin typeface="Arial" panose="020B0604020202020204" pitchFamily="34" charset="0"/>
              </a:rPr>
              <a:t>и истории</a:t>
            </a:r>
          </a:p>
        </p:txBody>
      </p:sp>
    </p:spTree>
    <p:extLst>
      <p:ext uri="{BB962C8B-B14F-4D97-AF65-F5344CB8AC3E}">
        <p14:creationId xmlns:p14="http://schemas.microsoft.com/office/powerpoint/2010/main" val="31101985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1098</Words>
  <Application>Microsoft Office PowerPoint</Application>
  <PresentationFormat>Произвольный</PresentationFormat>
  <Paragraphs>118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Rimma Kopytina</dc:creator>
  <cp:lastModifiedBy>Rimma Kopytina</cp:lastModifiedBy>
  <cp:revision>1</cp:revision>
  <dcterms:created xsi:type="dcterms:W3CDTF">2026-10-25T19:33:36Z</dcterms:created>
  <dcterms:modified xsi:type="dcterms:W3CDTF">2026-10-25T19:33:36Z</dcterms:modified>
</cp:coreProperties>
</file>